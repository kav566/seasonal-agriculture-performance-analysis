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rebuchet MS" charset="1" panose="020B0603020202020204"/>
      <p:regular r:id="rId23"/>
    </p:embeddedFont>
    <p:embeddedFont>
      <p:font typeface="Trebuchet MS Bold" charset="1" panose="020B0703020202020204"/>
      <p:regular r:id="rId24"/>
    </p:embeddedFont>
    <p:embeddedFont>
      <p:font typeface="Arimo" charset="1" panose="020B06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https://github.com/kav566/Seasonal-Agriculture-Performance-Analysis.git"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3" y="2074212"/>
            <a:ext cx="1844345" cy="1589961"/>
            <a:chOff x="0" y="0"/>
            <a:chExt cx="2459126" cy="2119948"/>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5632542" y="1791929"/>
            <a:ext cx="2499246" cy="2154517"/>
            <a:chOff x="0" y="0"/>
            <a:chExt cx="3332328" cy="2872689"/>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5707494" y="7849772"/>
            <a:ext cx="1077392" cy="928783"/>
            <a:chOff x="0" y="0"/>
            <a:chExt cx="1436522" cy="1238377"/>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756754" y="1651959"/>
            <a:ext cx="977417" cy="842601"/>
            <a:chOff x="0" y="0"/>
            <a:chExt cx="1303223" cy="1123467"/>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sp>
        <p:nvSpPr>
          <p:cNvPr name="TextBox 37" id="37"/>
          <p:cNvSpPr txBox="true"/>
          <p:nvPr/>
        </p:nvSpPr>
        <p:spPr>
          <a:xfrm rot="0">
            <a:off x="1328938" y="6318261"/>
            <a:ext cx="4917253" cy="923887"/>
          </a:xfrm>
          <a:prstGeom prst="rect">
            <a:avLst/>
          </a:prstGeom>
        </p:spPr>
        <p:txBody>
          <a:bodyPr anchor="t" rtlCol="false" tIns="0" lIns="0" bIns="0" rIns="0">
            <a:spAutoFit/>
          </a:bodyPr>
          <a:lstStyle/>
          <a:p>
            <a:pPr algn="l">
              <a:lnSpc>
                <a:spcPts val="3600"/>
              </a:lnSpc>
            </a:pPr>
            <a:r>
              <a:rPr lang="en-US" sz="3000">
                <a:solidFill>
                  <a:srgbClr val="000000"/>
                </a:solidFill>
                <a:latin typeface="Trebuchet MS"/>
                <a:ea typeface="Trebuchet MS"/>
                <a:cs typeface="Trebuchet MS"/>
                <a:sym typeface="Trebuchet MS"/>
              </a:rPr>
              <a:t>Kavya B Raj</a:t>
            </a:r>
            <a:r>
              <a:rPr lang="en-US" sz="3000">
                <a:solidFill>
                  <a:srgbClr val="000000"/>
                </a:solidFill>
                <a:latin typeface="Trebuchet MS"/>
                <a:ea typeface="Trebuchet MS"/>
                <a:cs typeface="Trebuchet MS"/>
                <a:sym typeface="Trebuchet MS"/>
              </a:rPr>
              <a:t> </a:t>
            </a:r>
          </a:p>
          <a:p>
            <a:pPr algn="l">
              <a:lnSpc>
                <a:spcPts val="3600"/>
              </a:lnSpc>
            </a:pPr>
            <a:r>
              <a:rPr lang="en-US" sz="3000">
                <a:solidFill>
                  <a:srgbClr val="000000"/>
                </a:solidFill>
                <a:latin typeface="Trebuchet MS"/>
                <a:ea typeface="Trebuchet MS"/>
                <a:cs typeface="Trebuchet MS"/>
                <a:sym typeface="Trebuchet MS"/>
              </a:rPr>
              <a:t>Kristu Jayanti College </a:t>
            </a:r>
          </a:p>
        </p:txBody>
      </p:sp>
      <p:sp>
        <p:nvSpPr>
          <p:cNvPr name="TextBox 38" id="38"/>
          <p:cNvSpPr txBox="true"/>
          <p:nvPr/>
        </p:nvSpPr>
        <p:spPr>
          <a:xfrm rot="0">
            <a:off x="-464191" y="4381481"/>
            <a:ext cx="14236407" cy="1457344"/>
          </a:xfrm>
          <a:prstGeom prst="rect">
            <a:avLst/>
          </a:prstGeom>
        </p:spPr>
        <p:txBody>
          <a:bodyPr anchor="t" rtlCol="false" tIns="0" lIns="0" bIns="0" rIns="0">
            <a:spAutoFit/>
          </a:bodyPr>
          <a:lstStyle/>
          <a:p>
            <a:pPr algn="ctr">
              <a:lnSpc>
                <a:spcPts val="5759"/>
              </a:lnSpc>
            </a:pPr>
            <a:r>
              <a:rPr lang="en-US" sz="4800">
                <a:solidFill>
                  <a:srgbClr val="000000"/>
                </a:solidFill>
                <a:latin typeface="Trebuchet MS"/>
                <a:ea typeface="Trebuchet MS"/>
                <a:cs typeface="Trebuchet MS"/>
                <a:sym typeface="Trebuchet MS"/>
              </a:rPr>
              <a:t>Project Title - SEASONAL AGRICULTURE PERFORMANCE ANALYSIS</a:t>
            </a:r>
          </a:p>
        </p:txBody>
      </p:sp>
      <p:grpSp>
        <p:nvGrpSpPr>
          <p:cNvPr name="Group 39" id="39"/>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41" id="41"/>
          <p:cNvSpPr txBox="true"/>
          <p:nvPr/>
        </p:nvSpPr>
        <p:spPr>
          <a:xfrm rot="0">
            <a:off x="1301113" y="7416746"/>
            <a:ext cx="12097390" cy="419152"/>
          </a:xfrm>
          <a:prstGeom prst="rect">
            <a:avLst/>
          </a:prstGeom>
        </p:spPr>
        <p:txBody>
          <a:bodyPr anchor="t" rtlCol="false" tIns="0" lIns="0" bIns="0" rIns="0">
            <a:spAutoFit/>
          </a:bodyPr>
          <a:lstStyle/>
          <a:p>
            <a:pPr algn="l">
              <a:lnSpc>
                <a:spcPts val="3240"/>
              </a:lnSpc>
            </a:pPr>
            <a:r>
              <a:rPr lang="en-US" sz="2700" b="true">
                <a:solidFill>
                  <a:srgbClr val="000000"/>
                </a:solidFill>
                <a:latin typeface="Trebuchet MS Bold"/>
                <a:ea typeface="Trebuchet MS Bold"/>
                <a:cs typeface="Trebuchet MS Bold"/>
                <a:sym typeface="Trebuchet MS Bold"/>
              </a:rPr>
              <a:t>AICTE STU ID : STU67729217aee921735561751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49368"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673103" y="1969251"/>
            <a:ext cx="11655779" cy="7375854"/>
          </a:xfrm>
          <a:prstGeom prst="rect">
            <a:avLst/>
          </a:prstGeom>
        </p:spPr>
        <p:txBody>
          <a:bodyPr anchor="t" rtlCol="false" tIns="0" lIns="0" bIns="0" rIns="0">
            <a:spAutoFit/>
          </a:bodyPr>
          <a:lstStyle/>
          <a:p>
            <a:pPr algn="l" marL="655433" indent="-327717" lvl="1">
              <a:lnSpc>
                <a:spcPts val="6519"/>
              </a:lnSpc>
              <a:buFont typeface="Arial"/>
              <a:buChar char="•"/>
            </a:pPr>
            <a:r>
              <a:rPr lang="en-US" sz="3621">
                <a:solidFill>
                  <a:srgbClr val="2E83C3"/>
                </a:solidFill>
                <a:latin typeface="Trebuchet MS"/>
                <a:ea typeface="Trebuchet MS"/>
                <a:cs typeface="Trebuchet MS"/>
                <a:sym typeface="Trebuchet MS"/>
              </a:rPr>
              <a:t>Performance of agriculture is subject to variation from season to season depending on different environmental and agricultural factors such as weather and availability of resources among others. The unprocessed data on agricultural productivity does not bring out these trends and factors. In this study, agricultural data will be analyzed to find patterns and variation in performance of agriculture from Kharif, Rabi and Zaid seasons.</a:t>
            </a:r>
          </a:p>
        </p:txBody>
      </p:sp>
      <p:sp>
        <p:nvSpPr>
          <p:cNvPr name="TextBox 36" id="36"/>
          <p:cNvSpPr txBox="true"/>
          <p:nvPr/>
        </p:nvSpPr>
        <p:spPr>
          <a:xfrm rot="0">
            <a:off x="1223343" y="861822"/>
            <a:ext cx="10310527"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grpSp>
        <p:nvGrpSpPr>
          <p:cNvPr name="Group 37" id="37"/>
          <p:cNvGrpSpPr/>
          <p:nvPr/>
        </p:nvGrpSpPr>
        <p:grpSpPr>
          <a:xfrm rot="0">
            <a:off x="11993528" y="4396254"/>
            <a:ext cx="4141137" cy="4896612"/>
            <a:chOff x="0" y="0"/>
            <a:chExt cx="5521516" cy="6528816"/>
          </a:xfrm>
        </p:grpSpPr>
        <p:sp>
          <p:nvSpPr>
            <p:cNvPr name="Freeform 38" id="38"/>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3"/>
              <a:stretch>
                <a:fillRect l="0" t="0" r="1" b="0"/>
              </a:stretch>
            </a:blipFill>
          </p:spPr>
        </p:sp>
      </p:grpSp>
      <p:grpSp>
        <p:nvGrpSpPr>
          <p:cNvPr name="Group 39" id="39"/>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673103" y="673985"/>
            <a:ext cx="13915415" cy="6924317"/>
          </a:xfrm>
          <a:prstGeom prst="rect">
            <a:avLst/>
          </a:prstGeom>
        </p:spPr>
        <p:txBody>
          <a:bodyPr anchor="t" rtlCol="false" tIns="0" lIns="0" bIns="0" rIns="0">
            <a:spAutoFit/>
          </a:bodyPr>
          <a:lstStyle/>
          <a:p>
            <a:pPr algn="l">
              <a:lnSpc>
                <a:spcPts val="8015"/>
              </a:lnSpc>
            </a:pPr>
            <a:r>
              <a:rPr lang="en-US" b="true" sz="6679">
                <a:solidFill>
                  <a:srgbClr val="000000"/>
                </a:solidFill>
                <a:latin typeface="Trebuchet MS Bold"/>
                <a:ea typeface="Trebuchet MS Bold"/>
                <a:cs typeface="Trebuchet MS Bold"/>
                <a:sym typeface="Trebuchet MS Bold"/>
              </a:rPr>
              <a:t>PROJECT DESCRIPTION</a:t>
            </a:r>
          </a:p>
          <a:p>
            <a:pPr algn="l">
              <a:lnSpc>
                <a:spcPts val="8015"/>
              </a:lnSpc>
            </a:pP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Analysis of 4,000 agricultural records</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Dataset containing 28 agricultural variables</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Comparison of Kharif, Rabi and Zaid</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Analysis of yield, production, profit and resource usage</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Investigation of environmental and farming factors</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Statistical and visualization-based analysis</a:t>
            </a:r>
          </a:p>
          <a:p>
            <a:pPr algn="l" marL="772938" indent="-386469" lvl="1">
              <a:lnSpc>
                <a:spcPts val="4296"/>
              </a:lnSpc>
              <a:buFont typeface="Arial"/>
              <a:buChar char="•"/>
            </a:pPr>
            <a:r>
              <a:rPr lang="en-US" sz="3580">
                <a:solidFill>
                  <a:srgbClr val="2E83C3"/>
                </a:solidFill>
                <a:latin typeface="Trebuchet MS"/>
                <a:ea typeface="Trebuchet MS"/>
                <a:cs typeface="Trebuchet MS"/>
                <a:sym typeface="Trebuchet MS"/>
              </a:rPr>
              <a:t>Development of data-driven insights and recommendations</a:t>
            </a:r>
          </a:p>
          <a:p>
            <a:pPr algn="l">
              <a:lnSpc>
                <a:spcPts val="4296"/>
              </a:lnSpc>
            </a:pPr>
          </a:p>
          <a:p>
            <a:pPr algn="l">
              <a:lnSpc>
                <a:spcPts val="4296"/>
              </a:lnSpc>
            </a:pPr>
          </a:p>
        </p:txBody>
      </p:sp>
      <p:grpSp>
        <p:nvGrpSpPr>
          <p:cNvPr name="Group 36" id="36"/>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8" id="38"/>
          <p:cNvGrpSpPr/>
          <p:nvPr/>
        </p:nvGrpSpPr>
        <p:grpSpPr>
          <a:xfrm rot="0">
            <a:off x="701040" y="9615688"/>
            <a:ext cx="5559381" cy="444141"/>
            <a:chOff x="0" y="0"/>
            <a:chExt cx="7412507" cy="592188"/>
          </a:xfrm>
        </p:grpSpPr>
        <p:sp>
          <p:nvSpPr>
            <p:cNvPr name="Freeform 39" id="39"/>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21451" y="1351121"/>
            <a:ext cx="14886222" cy="1122045"/>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6" id="36"/>
          <p:cNvGrpSpPr/>
          <p:nvPr/>
        </p:nvGrpSpPr>
        <p:grpSpPr>
          <a:xfrm rot="0">
            <a:off x="1082040" y="9265206"/>
            <a:ext cx="3271838" cy="728662"/>
            <a:chOff x="0" y="0"/>
            <a:chExt cx="4362450" cy="971550"/>
          </a:xfrm>
        </p:grpSpPr>
        <p:sp>
          <p:nvSpPr>
            <p:cNvPr name="Freeform 37" id="3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3"/>
              <a:stretch>
                <a:fillRect l="0" t="0" r="0" b="0"/>
              </a:stretch>
            </a:blipFill>
          </p:spPr>
        </p:sp>
      </p:grpSp>
      <p:sp>
        <p:nvSpPr>
          <p:cNvPr name="TextBox 38" id="38"/>
          <p:cNvSpPr txBox="true"/>
          <p:nvPr/>
        </p:nvSpPr>
        <p:spPr>
          <a:xfrm rot="0">
            <a:off x="803500" y="2728808"/>
            <a:ext cx="13176080" cy="5896495"/>
          </a:xfrm>
          <a:prstGeom prst="rect">
            <a:avLst/>
          </a:prstGeom>
        </p:spPr>
        <p:txBody>
          <a:bodyPr anchor="t" rtlCol="false" tIns="0" lIns="0" bIns="0" rIns="0">
            <a:spAutoFit/>
          </a:bodyPr>
          <a:lstStyle/>
          <a:p>
            <a:pPr algn="l" marL="756761" indent="-378381" lvl="1">
              <a:lnSpc>
                <a:spcPts val="4206"/>
              </a:lnSpc>
              <a:buFont typeface="Arial"/>
              <a:buChar char="•"/>
            </a:pPr>
            <a:r>
              <a:rPr lang="en-US" sz="3505">
                <a:solidFill>
                  <a:srgbClr val="2E83C3"/>
                </a:solidFill>
                <a:latin typeface="Trebuchet MS"/>
                <a:ea typeface="Trebuchet MS"/>
                <a:cs typeface="Trebuchet MS"/>
                <a:sym typeface="Trebuchet MS"/>
              </a:rPr>
              <a:t>Farmers</a:t>
            </a:r>
          </a:p>
          <a:p>
            <a:pPr algn="l">
              <a:lnSpc>
                <a:spcPts val="4326"/>
              </a:lnSpc>
              <a:spcBef>
                <a:spcPct val="0"/>
              </a:spcBef>
            </a:pPr>
            <a:r>
              <a:rPr lang="en-US" sz="3605">
                <a:solidFill>
                  <a:srgbClr val="2E83C3"/>
                </a:solidFill>
                <a:latin typeface="Trebuchet MS"/>
                <a:ea typeface="Trebuchet MS"/>
                <a:cs typeface="Trebuchet MS"/>
                <a:sym typeface="Trebuchet MS"/>
              </a:rPr>
              <a:t> For understanding seasonal and farming-performance patterns.</a:t>
            </a:r>
          </a:p>
          <a:p>
            <a:pPr algn="l" marL="756761" indent="-378381" lvl="1">
              <a:lnSpc>
                <a:spcPts val="4206"/>
              </a:lnSpc>
              <a:buFont typeface="Arial"/>
              <a:buChar char="•"/>
            </a:pPr>
            <a:r>
              <a:rPr lang="en-US" sz="3505">
                <a:solidFill>
                  <a:srgbClr val="2E83C3"/>
                </a:solidFill>
                <a:latin typeface="Trebuchet MS"/>
                <a:ea typeface="Trebuchet MS"/>
                <a:cs typeface="Trebuchet MS"/>
                <a:sym typeface="Trebuchet MS"/>
              </a:rPr>
              <a:t>Agricultural Departments</a:t>
            </a:r>
          </a:p>
          <a:p>
            <a:pPr algn="l">
              <a:lnSpc>
                <a:spcPts val="4206"/>
              </a:lnSpc>
              <a:spcBef>
                <a:spcPct val="0"/>
              </a:spcBef>
            </a:pPr>
            <a:r>
              <a:rPr lang="en-US" sz="3505">
                <a:solidFill>
                  <a:srgbClr val="2E83C3"/>
                </a:solidFill>
                <a:latin typeface="Trebuchet MS"/>
                <a:ea typeface="Trebuchet MS"/>
                <a:cs typeface="Trebuchet MS"/>
                <a:sym typeface="Trebuchet MS"/>
              </a:rPr>
              <a:t> For evidence-based agricultural planning.</a:t>
            </a:r>
          </a:p>
          <a:p>
            <a:pPr algn="l" marL="756761" indent="-378381" lvl="1">
              <a:lnSpc>
                <a:spcPts val="4206"/>
              </a:lnSpc>
              <a:buFont typeface="Arial"/>
              <a:buChar char="•"/>
            </a:pPr>
            <a:r>
              <a:rPr lang="en-US" sz="3505">
                <a:solidFill>
                  <a:srgbClr val="2E83C3"/>
                </a:solidFill>
                <a:latin typeface="Trebuchet MS"/>
                <a:ea typeface="Trebuchet MS"/>
                <a:cs typeface="Trebuchet MS"/>
                <a:sym typeface="Trebuchet MS"/>
              </a:rPr>
              <a:t>Agricultural Researchers</a:t>
            </a:r>
          </a:p>
          <a:p>
            <a:pPr algn="l">
              <a:lnSpc>
                <a:spcPts val="4206"/>
              </a:lnSpc>
              <a:spcBef>
                <a:spcPct val="0"/>
              </a:spcBef>
            </a:pPr>
            <a:r>
              <a:rPr lang="en-US" sz="3505">
                <a:solidFill>
                  <a:srgbClr val="2E83C3"/>
                </a:solidFill>
                <a:latin typeface="Trebuchet MS"/>
                <a:ea typeface="Trebuchet MS"/>
                <a:cs typeface="Trebuchet MS"/>
                <a:sym typeface="Trebuchet MS"/>
              </a:rPr>
              <a:t> For identifying relationships between farming and environmental variables.</a:t>
            </a:r>
          </a:p>
          <a:p>
            <a:pPr algn="l" marL="756761" indent="-378381" lvl="1">
              <a:lnSpc>
                <a:spcPts val="4206"/>
              </a:lnSpc>
              <a:buFont typeface="Arial"/>
              <a:buChar char="•"/>
            </a:pPr>
            <a:r>
              <a:rPr lang="en-US" sz="3505">
                <a:solidFill>
                  <a:srgbClr val="2E83C3"/>
                </a:solidFill>
                <a:latin typeface="Trebuchet MS"/>
                <a:ea typeface="Trebuchet MS"/>
                <a:cs typeface="Trebuchet MS"/>
                <a:sym typeface="Trebuchet MS"/>
              </a:rPr>
              <a:t> Agribusiness Stakeholders</a:t>
            </a:r>
          </a:p>
          <a:p>
            <a:pPr algn="l">
              <a:lnSpc>
                <a:spcPts val="4206"/>
              </a:lnSpc>
              <a:spcBef>
                <a:spcPct val="0"/>
              </a:spcBef>
            </a:pPr>
            <a:r>
              <a:rPr lang="en-US" sz="3505">
                <a:solidFill>
                  <a:srgbClr val="2E83C3"/>
                </a:solidFill>
                <a:latin typeface="Trebuchet MS"/>
                <a:ea typeface="Trebuchet MS"/>
                <a:cs typeface="Trebuchet MS"/>
                <a:sym typeface="Trebuchet MS"/>
              </a:rPr>
              <a:t> For understanding production and profitability patterns.</a:t>
            </a:r>
          </a:p>
          <a:p>
            <a:pPr algn="l" marL="756761" indent="-378381" lvl="1">
              <a:lnSpc>
                <a:spcPts val="4206"/>
              </a:lnSpc>
              <a:buFont typeface="Arial"/>
              <a:buChar char="•"/>
            </a:pPr>
            <a:r>
              <a:rPr lang="en-US" sz="3505">
                <a:solidFill>
                  <a:srgbClr val="2E83C3"/>
                </a:solidFill>
                <a:latin typeface="Trebuchet MS"/>
                <a:ea typeface="Trebuchet MS"/>
                <a:cs typeface="Trebuchet MS"/>
                <a:sym typeface="Trebuchet MS"/>
              </a:rPr>
              <a:t>Data Analysts</a:t>
            </a:r>
          </a:p>
          <a:p>
            <a:pPr algn="l">
              <a:lnSpc>
                <a:spcPts val="4206"/>
              </a:lnSpc>
              <a:spcBef>
                <a:spcPct val="0"/>
              </a:spcBef>
            </a:pPr>
            <a:r>
              <a:rPr lang="en-US" sz="3505">
                <a:solidFill>
                  <a:srgbClr val="2E83C3"/>
                </a:solidFill>
                <a:latin typeface="Trebuchet MS"/>
                <a:ea typeface="Trebuchet MS"/>
                <a:cs typeface="Trebuchet MS"/>
                <a:sym typeface="Trebuchet MS"/>
              </a:rPr>
              <a:t> For agricultural performance analysis</a:t>
            </a:r>
            <a:r>
              <a:rPr lang="en-US" sz="3505">
                <a:solidFill>
                  <a:srgbClr val="000000"/>
                </a:solidFill>
                <a:latin typeface="Trebuchet MS"/>
                <a:ea typeface="Trebuchet MS"/>
                <a:cs typeface="Trebuchet MS"/>
                <a:sym typeface="Trebuchet MS"/>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3"/>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31" id="31"/>
          <p:cNvGrpSpPr/>
          <p:nvPr/>
        </p:nvGrpSpPr>
        <p:grpSpPr>
          <a:xfrm rot="0">
            <a:off x="16510873" y="8408994"/>
            <a:ext cx="981342" cy="981342"/>
            <a:chOff x="0" y="0"/>
            <a:chExt cx="1308456" cy="1308456"/>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33" id="33"/>
          <p:cNvGrpSpPr/>
          <p:nvPr/>
        </p:nvGrpSpPr>
        <p:grpSpPr>
          <a:xfrm rot="0">
            <a:off x="16025689" y="9198654"/>
            <a:ext cx="376723" cy="376723"/>
            <a:chOff x="0" y="0"/>
            <a:chExt cx="502298" cy="502298"/>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35" id="35"/>
          <p:cNvGrpSpPr/>
          <p:nvPr/>
        </p:nvGrpSpPr>
        <p:grpSpPr>
          <a:xfrm rot="0">
            <a:off x="701040" y="9615688"/>
            <a:ext cx="5559381" cy="444141"/>
            <a:chOff x="0" y="0"/>
            <a:chExt cx="7412507" cy="592188"/>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grpSp>
        <p:nvGrpSpPr>
          <p:cNvPr name="Group 37" id="37"/>
          <p:cNvGrpSpPr/>
          <p:nvPr/>
        </p:nvGrpSpPr>
        <p:grpSpPr>
          <a:xfrm rot="0">
            <a:off x="76200" y="5730240"/>
            <a:ext cx="2590800" cy="4515040"/>
            <a:chOff x="0" y="0"/>
            <a:chExt cx="3454400" cy="6020054"/>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5"/>
              <a:stretch>
                <a:fillRect l="-5923" t="0" r="-5922" b="0"/>
              </a:stretch>
            </a:blipFill>
          </p:spPr>
        </p:sp>
      </p:grpSp>
      <p:graphicFrame>
        <p:nvGraphicFramePr>
          <p:cNvPr name="Object 39" id="39"/>
          <p:cNvGraphicFramePr/>
          <p:nvPr/>
        </p:nvGraphicFramePr>
        <p:xfrm>
          <a:off x="2667000" y="2188416"/>
          <a:ext cx="3771900" cy="5657850"/>
        </p:xfrm>
        <a:graphic>
          <a:graphicData uri="http://schemas.openxmlformats.org/presentationml/2006/ole">
            <p:oleObj imgW="4902200" imgH="67818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40" id="40"/>
          <p:cNvSpPr txBox="true"/>
          <p:nvPr/>
        </p:nvSpPr>
        <p:spPr>
          <a:xfrm rot="0">
            <a:off x="1082040" y="672522"/>
            <a:ext cx="7776553" cy="1199331"/>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336552" y="1930891"/>
            <a:ext cx="12713687" cy="5282218"/>
          </a:xfrm>
          <a:custGeom>
            <a:avLst/>
            <a:gdLst/>
            <a:ahLst/>
            <a:cxnLst/>
            <a:rect r="r" b="b" t="t" l="l"/>
            <a:pathLst>
              <a:path h="5282218" w="12713687">
                <a:moveTo>
                  <a:pt x="0" y="0"/>
                </a:moveTo>
                <a:lnTo>
                  <a:pt x="12713687" y="0"/>
                </a:lnTo>
                <a:lnTo>
                  <a:pt x="12713687" y="5282218"/>
                </a:lnTo>
                <a:lnTo>
                  <a:pt x="0" y="5282218"/>
                </a:lnTo>
                <a:lnTo>
                  <a:pt x="0" y="0"/>
                </a:lnTo>
                <a:close/>
              </a:path>
            </a:pathLst>
          </a:custGeom>
          <a:blipFill>
            <a:blip r:embed="rId4"/>
            <a:stretch>
              <a:fillRect l="-17903" t="-81590" r="-145812" b="-175448"/>
            </a:stretch>
          </a:blipFill>
        </p:spPr>
      </p:sp>
      <p:sp>
        <p:nvSpPr>
          <p:cNvPr name="TextBox 38" id="38"/>
          <p:cNvSpPr txBox="true"/>
          <p:nvPr/>
        </p:nvSpPr>
        <p:spPr>
          <a:xfrm rot="0">
            <a:off x="274101" y="215810"/>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274101" y="1389919"/>
            <a:ext cx="5254390"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1 — Seasonal Yield</a:t>
            </a:r>
          </a:p>
        </p:txBody>
      </p:sp>
      <p:sp>
        <p:nvSpPr>
          <p:cNvPr name="Freeform 40" id="40"/>
          <p:cNvSpPr/>
          <p:nvPr/>
        </p:nvSpPr>
        <p:spPr>
          <a:xfrm flipH="false" flipV="false" rot="0">
            <a:off x="6990574" y="1930891"/>
            <a:ext cx="8566923" cy="5276886"/>
          </a:xfrm>
          <a:custGeom>
            <a:avLst/>
            <a:gdLst/>
            <a:ahLst/>
            <a:cxnLst/>
            <a:rect r="r" b="b" t="t" l="l"/>
            <a:pathLst>
              <a:path h="5276886" w="8566923">
                <a:moveTo>
                  <a:pt x="0" y="0"/>
                </a:moveTo>
                <a:lnTo>
                  <a:pt x="8566923" y="0"/>
                </a:lnTo>
                <a:lnTo>
                  <a:pt x="8566923" y="5276886"/>
                </a:lnTo>
                <a:lnTo>
                  <a:pt x="0" y="5276886"/>
                </a:lnTo>
                <a:lnTo>
                  <a:pt x="0" y="0"/>
                </a:lnTo>
                <a:close/>
              </a:path>
            </a:pathLst>
          </a:custGeom>
          <a:blipFill>
            <a:blip r:embed="rId4"/>
            <a:stretch>
              <a:fillRect l="-19074" t="-132883" r="-161885" b="-23692"/>
            </a:stretch>
          </a:blipFill>
        </p:spPr>
      </p:sp>
      <p:sp>
        <p:nvSpPr>
          <p:cNvPr name="TextBox 41" id="41"/>
          <p:cNvSpPr txBox="true"/>
          <p:nvPr/>
        </p:nvSpPr>
        <p:spPr>
          <a:xfrm rot="0">
            <a:off x="729171" y="7619161"/>
            <a:ext cx="14061889" cy="1800111"/>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Kharif: 5.63 tonnes/ha</a:t>
            </a:r>
          </a:p>
          <a:p>
            <a:pPr algn="l">
              <a:lnSpc>
                <a:spcPts val="3539"/>
              </a:lnSpc>
              <a:spcBef>
                <a:spcPct val="0"/>
              </a:spcBef>
            </a:pPr>
            <a:r>
              <a:rPr lang="en-US" sz="2949">
                <a:solidFill>
                  <a:srgbClr val="236292"/>
                </a:solidFill>
                <a:latin typeface="Trebuchet MS"/>
                <a:ea typeface="Trebuchet MS"/>
                <a:cs typeface="Trebuchet MS"/>
                <a:sym typeface="Trebuchet MS"/>
              </a:rPr>
              <a:t> Rabi: 5.04 tonnes/ha</a:t>
            </a:r>
          </a:p>
          <a:p>
            <a:pPr algn="l">
              <a:lnSpc>
                <a:spcPts val="3539"/>
              </a:lnSpc>
              <a:spcBef>
                <a:spcPct val="0"/>
              </a:spcBef>
            </a:pPr>
            <a:r>
              <a:rPr lang="en-US" sz="2949">
                <a:solidFill>
                  <a:srgbClr val="236292"/>
                </a:solidFill>
                <a:latin typeface="Trebuchet MS"/>
                <a:ea typeface="Trebuchet MS"/>
                <a:cs typeface="Trebuchet MS"/>
                <a:sym typeface="Trebuchet MS"/>
              </a:rPr>
              <a:t> Zaid: 4.64 tonnes/ha</a:t>
            </a:r>
          </a:p>
          <a:p>
            <a:pPr algn="l">
              <a:lnSpc>
                <a:spcPts val="3539"/>
              </a:lnSpc>
              <a:spcBef>
                <a:spcPct val="0"/>
              </a:spcBef>
            </a:pPr>
            <a:r>
              <a:rPr lang="en-US" sz="2949">
                <a:solidFill>
                  <a:srgbClr val="236292"/>
                </a:solidFill>
                <a:latin typeface="Trebuchet MS"/>
                <a:ea typeface="Trebuchet MS"/>
                <a:cs typeface="Trebuchet MS"/>
                <a:sym typeface="Trebuchet MS"/>
              </a:rPr>
              <a:t>Finding: Kharif recorded the highest average yield, while Zaid recorded the lowest.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355510" y="1726422"/>
            <a:ext cx="13646240" cy="5703078"/>
          </a:xfrm>
          <a:custGeom>
            <a:avLst/>
            <a:gdLst/>
            <a:ahLst/>
            <a:cxnLst/>
            <a:rect r="r" b="b" t="t" l="l"/>
            <a:pathLst>
              <a:path h="5703078" w="13646240">
                <a:moveTo>
                  <a:pt x="0" y="0"/>
                </a:moveTo>
                <a:lnTo>
                  <a:pt x="13646240" y="0"/>
                </a:lnTo>
                <a:lnTo>
                  <a:pt x="13646240" y="5703078"/>
                </a:lnTo>
                <a:lnTo>
                  <a:pt x="0" y="5703078"/>
                </a:lnTo>
                <a:lnTo>
                  <a:pt x="0" y="0"/>
                </a:lnTo>
                <a:close/>
              </a:path>
            </a:pathLst>
          </a:custGeom>
          <a:blipFill>
            <a:blip r:embed="rId4"/>
            <a:stretch>
              <a:fillRect l="-16997" t="-53474" r="-121486" b="-167511"/>
            </a:stretch>
          </a:blipFill>
        </p:spPr>
      </p:sp>
      <p:sp>
        <p:nvSpPr>
          <p:cNvPr name="TextBox 38" id="38"/>
          <p:cNvSpPr txBox="true"/>
          <p:nvPr/>
        </p:nvSpPr>
        <p:spPr>
          <a:xfrm rot="0">
            <a:off x="73005"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73005" y="1028700"/>
            <a:ext cx="5254390"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2 — Seasonal Profit</a:t>
            </a:r>
          </a:p>
        </p:txBody>
      </p:sp>
      <p:sp>
        <p:nvSpPr>
          <p:cNvPr name="Freeform 40" id="40"/>
          <p:cNvSpPr/>
          <p:nvPr/>
        </p:nvSpPr>
        <p:spPr>
          <a:xfrm flipH="false" flipV="false" rot="0">
            <a:off x="7286226" y="1726422"/>
            <a:ext cx="9515706" cy="5703078"/>
          </a:xfrm>
          <a:custGeom>
            <a:avLst/>
            <a:gdLst/>
            <a:ahLst/>
            <a:cxnLst/>
            <a:rect r="r" b="b" t="t" l="l"/>
            <a:pathLst>
              <a:path h="5703078" w="9515706">
                <a:moveTo>
                  <a:pt x="0" y="0"/>
                </a:moveTo>
                <a:lnTo>
                  <a:pt x="9515706" y="0"/>
                </a:lnTo>
                <a:lnTo>
                  <a:pt x="9515706" y="5703078"/>
                </a:lnTo>
                <a:lnTo>
                  <a:pt x="0" y="5703078"/>
                </a:lnTo>
                <a:lnTo>
                  <a:pt x="0" y="0"/>
                </a:lnTo>
                <a:close/>
              </a:path>
            </a:pathLst>
          </a:custGeom>
          <a:blipFill>
            <a:blip r:embed="rId4"/>
            <a:stretch>
              <a:fillRect l="-17319" t="-110504" r="-125681" b="-17561"/>
            </a:stretch>
          </a:blipFill>
        </p:spPr>
      </p:sp>
      <p:sp>
        <p:nvSpPr>
          <p:cNvPr name="TextBox 41" id="41"/>
          <p:cNvSpPr txBox="true"/>
          <p:nvPr/>
        </p:nvSpPr>
        <p:spPr>
          <a:xfrm rot="0">
            <a:off x="729171" y="7619161"/>
            <a:ext cx="13272579" cy="2695403"/>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Kharif — ₹178,914.65</a:t>
            </a:r>
          </a:p>
          <a:p>
            <a:pPr algn="l">
              <a:lnSpc>
                <a:spcPts val="3539"/>
              </a:lnSpc>
              <a:spcBef>
                <a:spcPct val="0"/>
              </a:spcBef>
            </a:pPr>
            <a:r>
              <a:rPr lang="en-US" sz="2949">
                <a:solidFill>
                  <a:srgbClr val="236292"/>
                </a:solidFill>
                <a:latin typeface="Trebuchet MS"/>
                <a:ea typeface="Trebuchet MS"/>
                <a:cs typeface="Trebuchet MS"/>
                <a:sym typeface="Trebuchet MS"/>
              </a:rPr>
              <a:t> Rabi — ₹87,689.47</a:t>
            </a:r>
          </a:p>
          <a:p>
            <a:pPr algn="l">
              <a:lnSpc>
                <a:spcPts val="3539"/>
              </a:lnSpc>
              <a:spcBef>
                <a:spcPct val="0"/>
              </a:spcBef>
            </a:pPr>
            <a:r>
              <a:rPr lang="en-US" sz="2949">
                <a:solidFill>
                  <a:srgbClr val="236292"/>
                </a:solidFill>
                <a:latin typeface="Trebuchet MS"/>
                <a:ea typeface="Trebuchet MS"/>
                <a:cs typeface="Trebuchet MS"/>
                <a:sym typeface="Trebuchet MS"/>
              </a:rPr>
              <a:t> Zaid — −₹24,804.82</a:t>
            </a:r>
          </a:p>
          <a:p>
            <a:pPr algn="l">
              <a:lnSpc>
                <a:spcPts val="3539"/>
              </a:lnSpc>
              <a:spcBef>
                <a:spcPct val="0"/>
              </a:spcBef>
            </a:pPr>
            <a:r>
              <a:rPr lang="en-US" sz="2949">
                <a:solidFill>
                  <a:srgbClr val="236292"/>
                </a:solidFill>
                <a:latin typeface="Trebuchet MS"/>
                <a:ea typeface="Trebuchet MS"/>
                <a:cs typeface="Trebuchet MS"/>
                <a:sym typeface="Trebuchet MS"/>
              </a:rPr>
              <a:t>Finding: Kharif showed the highest average profit, while Zaid showed negative average profitability.</a:t>
            </a:r>
          </a:p>
          <a:p>
            <a:pPr algn="l">
              <a:lnSpc>
                <a:spcPts val="353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471996" y="1700915"/>
            <a:ext cx="13529754" cy="5698159"/>
          </a:xfrm>
          <a:custGeom>
            <a:avLst/>
            <a:gdLst/>
            <a:ahLst/>
            <a:cxnLst/>
            <a:rect r="r" b="b" t="t" l="l"/>
            <a:pathLst>
              <a:path h="5698159" w="13529754">
                <a:moveTo>
                  <a:pt x="0" y="0"/>
                </a:moveTo>
                <a:lnTo>
                  <a:pt x="13529754" y="0"/>
                </a:lnTo>
                <a:lnTo>
                  <a:pt x="13529754" y="5698159"/>
                </a:lnTo>
                <a:lnTo>
                  <a:pt x="0" y="5698159"/>
                </a:lnTo>
                <a:lnTo>
                  <a:pt x="0" y="0"/>
                </a:lnTo>
                <a:close/>
              </a:path>
            </a:pathLst>
          </a:custGeom>
          <a:blipFill>
            <a:blip r:embed="rId4"/>
            <a:stretch>
              <a:fillRect l="-3855" t="-40032" r="-128844" b="-170761"/>
            </a:stretch>
          </a:blipFill>
        </p:spPr>
      </p:sp>
      <p:sp>
        <p:nvSpPr>
          <p:cNvPr name="TextBox 38" id="38"/>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138595" y="1028700"/>
            <a:ext cx="5254390"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3 — Water Usage</a:t>
            </a:r>
          </a:p>
        </p:txBody>
      </p:sp>
      <p:sp>
        <p:nvSpPr>
          <p:cNvPr name="TextBox 40" id="40"/>
          <p:cNvSpPr txBox="true"/>
          <p:nvPr/>
        </p:nvSpPr>
        <p:spPr>
          <a:xfrm rot="0">
            <a:off x="729171" y="7619161"/>
            <a:ext cx="13272579" cy="2695403"/>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Kharif — 6,102.20 m³</a:t>
            </a:r>
          </a:p>
          <a:p>
            <a:pPr algn="l">
              <a:lnSpc>
                <a:spcPts val="3539"/>
              </a:lnSpc>
              <a:spcBef>
                <a:spcPct val="0"/>
              </a:spcBef>
            </a:pPr>
            <a:r>
              <a:rPr lang="en-US" sz="2949">
                <a:solidFill>
                  <a:srgbClr val="236292"/>
                </a:solidFill>
                <a:latin typeface="Trebuchet MS"/>
                <a:ea typeface="Trebuchet MS"/>
                <a:cs typeface="Trebuchet MS"/>
                <a:sym typeface="Trebuchet MS"/>
              </a:rPr>
              <a:t>Rabi — 5,846.99 m³</a:t>
            </a:r>
          </a:p>
          <a:p>
            <a:pPr algn="l">
              <a:lnSpc>
                <a:spcPts val="3539"/>
              </a:lnSpc>
              <a:spcBef>
                <a:spcPct val="0"/>
              </a:spcBef>
            </a:pPr>
            <a:r>
              <a:rPr lang="en-US" sz="2949">
                <a:solidFill>
                  <a:srgbClr val="236292"/>
                </a:solidFill>
                <a:latin typeface="Trebuchet MS"/>
                <a:ea typeface="Trebuchet MS"/>
                <a:cs typeface="Trebuchet MS"/>
                <a:sym typeface="Trebuchet MS"/>
              </a:rPr>
              <a:t>Zaid — 6,419.89 m³</a:t>
            </a:r>
          </a:p>
          <a:p>
            <a:pPr algn="l">
              <a:lnSpc>
                <a:spcPts val="3539"/>
              </a:lnSpc>
              <a:spcBef>
                <a:spcPct val="0"/>
              </a:spcBef>
            </a:pPr>
            <a:r>
              <a:rPr lang="en-US" sz="2949">
                <a:solidFill>
                  <a:srgbClr val="236292"/>
                </a:solidFill>
                <a:latin typeface="Trebuchet MS"/>
                <a:ea typeface="Trebuchet MS"/>
                <a:cs typeface="Trebuchet MS"/>
                <a:sym typeface="Trebuchet MS"/>
              </a:rPr>
              <a:t>Finding: Zaid had the highest average water usage despite having the lowest average yield.</a:t>
            </a:r>
          </a:p>
          <a:p>
            <a:pPr algn="l">
              <a:lnSpc>
                <a:spcPts val="3539"/>
              </a:lnSpc>
              <a:spcBef>
                <a:spcPct val="0"/>
              </a:spcBef>
            </a:pPr>
          </a:p>
        </p:txBody>
      </p:sp>
      <p:sp>
        <p:nvSpPr>
          <p:cNvPr name="Freeform 41" id="41"/>
          <p:cNvSpPr/>
          <p:nvPr/>
        </p:nvSpPr>
        <p:spPr>
          <a:xfrm flipH="false" flipV="false" rot="0">
            <a:off x="6879526" y="1700915"/>
            <a:ext cx="9438360" cy="5698159"/>
          </a:xfrm>
          <a:custGeom>
            <a:avLst/>
            <a:gdLst/>
            <a:ahLst/>
            <a:cxnLst/>
            <a:rect r="r" b="b" t="t" l="l"/>
            <a:pathLst>
              <a:path h="5698159" w="9438360">
                <a:moveTo>
                  <a:pt x="0" y="0"/>
                </a:moveTo>
                <a:lnTo>
                  <a:pt x="9438360" y="0"/>
                </a:lnTo>
                <a:lnTo>
                  <a:pt x="9438360" y="5698159"/>
                </a:lnTo>
                <a:lnTo>
                  <a:pt x="0" y="5698159"/>
                </a:lnTo>
                <a:lnTo>
                  <a:pt x="0" y="0"/>
                </a:lnTo>
                <a:close/>
              </a:path>
            </a:pathLst>
          </a:custGeom>
          <a:blipFill>
            <a:blip r:embed="rId4"/>
            <a:stretch>
              <a:fillRect l="-5503" t="-103908" r="-133614" b="-18882"/>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0159377" y="1343119"/>
            <a:ext cx="7887268" cy="7674857"/>
          </a:xfrm>
          <a:custGeom>
            <a:avLst/>
            <a:gdLst/>
            <a:ahLst/>
            <a:cxnLst/>
            <a:rect r="r" b="b" t="t" l="l"/>
            <a:pathLst>
              <a:path h="7674857" w="7887268">
                <a:moveTo>
                  <a:pt x="0" y="0"/>
                </a:moveTo>
                <a:lnTo>
                  <a:pt x="7887267" y="0"/>
                </a:lnTo>
                <a:lnTo>
                  <a:pt x="7887267" y="7674857"/>
                </a:lnTo>
                <a:lnTo>
                  <a:pt x="0" y="7674857"/>
                </a:lnTo>
                <a:lnTo>
                  <a:pt x="0" y="0"/>
                </a:lnTo>
                <a:close/>
              </a:path>
            </a:pathLst>
          </a:custGeom>
          <a:blipFill>
            <a:blip r:embed="rId4"/>
            <a:stretch>
              <a:fillRect l="-15044" t="-24773" r="-133251" b="-18758"/>
            </a:stretch>
          </a:blipFill>
        </p:spPr>
      </p:sp>
      <p:sp>
        <p:nvSpPr>
          <p:cNvPr name="Freeform 38" id="38"/>
          <p:cNvSpPr/>
          <p:nvPr/>
        </p:nvSpPr>
        <p:spPr>
          <a:xfrm flipH="false" flipV="false" rot="0">
            <a:off x="81123" y="1514485"/>
            <a:ext cx="10078254" cy="7332126"/>
          </a:xfrm>
          <a:custGeom>
            <a:avLst/>
            <a:gdLst/>
            <a:ahLst/>
            <a:cxnLst/>
            <a:rect r="r" b="b" t="t" l="l"/>
            <a:pathLst>
              <a:path h="7332126" w="10078254">
                <a:moveTo>
                  <a:pt x="0" y="0"/>
                </a:moveTo>
                <a:lnTo>
                  <a:pt x="10078254" y="0"/>
                </a:lnTo>
                <a:lnTo>
                  <a:pt x="10078254" y="7332125"/>
                </a:lnTo>
                <a:lnTo>
                  <a:pt x="0" y="7332125"/>
                </a:lnTo>
                <a:lnTo>
                  <a:pt x="0" y="0"/>
                </a:lnTo>
                <a:close/>
              </a:path>
            </a:pathLst>
          </a:custGeom>
          <a:blipFill>
            <a:blip r:embed="rId5"/>
            <a:stretch>
              <a:fillRect l="-4507" t="-15283" r="-62127" b="-13554"/>
            </a:stretch>
          </a:blipFill>
        </p:spPr>
      </p:sp>
      <p:sp>
        <p:nvSpPr>
          <p:cNvPr name="TextBox 39" id="39"/>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40" id="40"/>
          <p:cNvSpPr txBox="true"/>
          <p:nvPr/>
        </p:nvSpPr>
        <p:spPr>
          <a:xfrm rot="0">
            <a:off x="-149000" y="1028700"/>
            <a:ext cx="5254390"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4 — Irrigation</a:t>
            </a:r>
          </a:p>
        </p:txBody>
      </p:sp>
      <p:sp>
        <p:nvSpPr>
          <p:cNvPr name="TextBox 41" id="41"/>
          <p:cNvSpPr txBox="true"/>
          <p:nvPr/>
        </p:nvSpPr>
        <p:spPr>
          <a:xfrm rot="0">
            <a:off x="673103" y="9171665"/>
            <a:ext cx="13272579" cy="1352464"/>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D</a:t>
            </a:r>
            <a:r>
              <a:rPr lang="en-US" sz="2949">
                <a:solidFill>
                  <a:srgbClr val="236292"/>
                </a:solidFill>
                <a:latin typeface="Trebuchet MS"/>
                <a:ea typeface="Trebuchet MS"/>
                <a:cs typeface="Trebuchet MS"/>
                <a:sym typeface="Trebuchet MS"/>
              </a:rPr>
              <a:t>rip irrigation recorded the highest average yield, while rainfed farming recorded the lowest.</a:t>
            </a:r>
          </a:p>
          <a:p>
            <a:pPr algn="l">
              <a:lnSpc>
                <a:spcPts val="353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426457" y="1514485"/>
            <a:ext cx="5920925" cy="7666706"/>
          </a:xfrm>
          <a:custGeom>
            <a:avLst/>
            <a:gdLst/>
            <a:ahLst/>
            <a:cxnLst/>
            <a:rect r="r" b="b" t="t" l="l"/>
            <a:pathLst>
              <a:path h="7666706" w="5920925">
                <a:moveTo>
                  <a:pt x="0" y="0"/>
                </a:moveTo>
                <a:lnTo>
                  <a:pt x="5920925" y="0"/>
                </a:lnTo>
                <a:lnTo>
                  <a:pt x="5920925" y="7666705"/>
                </a:lnTo>
                <a:lnTo>
                  <a:pt x="0" y="7666705"/>
                </a:lnTo>
                <a:lnTo>
                  <a:pt x="0" y="0"/>
                </a:lnTo>
                <a:close/>
              </a:path>
            </a:pathLst>
          </a:custGeom>
          <a:blipFill>
            <a:blip r:embed="rId4"/>
            <a:stretch>
              <a:fillRect l="-26866" t="-25394" r="-183419" b="-9397"/>
            </a:stretch>
          </a:blipFill>
        </p:spPr>
      </p:sp>
      <p:sp>
        <p:nvSpPr>
          <p:cNvPr name="Freeform 38" id="38"/>
          <p:cNvSpPr/>
          <p:nvPr/>
        </p:nvSpPr>
        <p:spPr>
          <a:xfrm flipH="false" flipV="false" rot="0">
            <a:off x="6347382" y="1514485"/>
            <a:ext cx="8251967" cy="7666706"/>
          </a:xfrm>
          <a:custGeom>
            <a:avLst/>
            <a:gdLst/>
            <a:ahLst/>
            <a:cxnLst/>
            <a:rect r="r" b="b" t="t" l="l"/>
            <a:pathLst>
              <a:path h="7666706" w="8251967">
                <a:moveTo>
                  <a:pt x="0" y="0"/>
                </a:moveTo>
                <a:lnTo>
                  <a:pt x="8251967" y="0"/>
                </a:lnTo>
                <a:lnTo>
                  <a:pt x="8251967" y="7666705"/>
                </a:lnTo>
                <a:lnTo>
                  <a:pt x="0" y="7666705"/>
                </a:lnTo>
                <a:lnTo>
                  <a:pt x="0" y="0"/>
                </a:lnTo>
                <a:close/>
              </a:path>
            </a:pathLst>
          </a:custGeom>
          <a:blipFill>
            <a:blip r:embed="rId5"/>
            <a:stretch>
              <a:fillRect l="-14127" t="-15788" r="-91387" b="-8638"/>
            </a:stretch>
          </a:blipFill>
        </p:spPr>
      </p:sp>
      <p:sp>
        <p:nvSpPr>
          <p:cNvPr name="TextBox 39" id="39"/>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40" id="40"/>
          <p:cNvSpPr txBox="true"/>
          <p:nvPr/>
        </p:nvSpPr>
        <p:spPr>
          <a:xfrm rot="0">
            <a:off x="-532404" y="1028700"/>
            <a:ext cx="7687881"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5 — Crop Performance</a:t>
            </a:r>
          </a:p>
        </p:txBody>
      </p:sp>
      <p:sp>
        <p:nvSpPr>
          <p:cNvPr name="TextBox 41" id="41"/>
          <p:cNvSpPr txBox="true"/>
          <p:nvPr/>
        </p:nvSpPr>
        <p:spPr>
          <a:xfrm rot="0">
            <a:off x="673103" y="9395489"/>
            <a:ext cx="13272579" cy="457171"/>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Su</a:t>
            </a:r>
            <a:r>
              <a:rPr lang="en-US" sz="2949">
                <a:solidFill>
                  <a:srgbClr val="236292"/>
                </a:solidFill>
                <a:latin typeface="Trebuchet MS"/>
                <a:ea typeface="Trebuchet MS"/>
                <a:cs typeface="Trebuchet MS"/>
                <a:sym typeface="Trebuchet MS"/>
              </a:rPr>
              <a:t>garcane recorded the highest average yield among the crops analyzed.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81693" y="1720830"/>
            <a:ext cx="14380935" cy="7641183"/>
          </a:xfrm>
          <a:custGeom>
            <a:avLst/>
            <a:gdLst/>
            <a:ahLst/>
            <a:cxnLst/>
            <a:rect r="r" b="b" t="t" l="l"/>
            <a:pathLst>
              <a:path h="7641183" w="14380935">
                <a:moveTo>
                  <a:pt x="0" y="0"/>
                </a:moveTo>
                <a:lnTo>
                  <a:pt x="14380936" y="0"/>
                </a:lnTo>
                <a:lnTo>
                  <a:pt x="14380936" y="7641183"/>
                </a:lnTo>
                <a:lnTo>
                  <a:pt x="0" y="7641183"/>
                </a:lnTo>
                <a:lnTo>
                  <a:pt x="0" y="0"/>
                </a:lnTo>
                <a:close/>
              </a:path>
            </a:pathLst>
          </a:custGeom>
          <a:blipFill>
            <a:blip r:embed="rId4"/>
            <a:stretch>
              <a:fillRect l="-7780" t="-35340" r="-34238" b="-15006"/>
            </a:stretch>
          </a:blipFill>
        </p:spPr>
      </p:sp>
      <p:sp>
        <p:nvSpPr>
          <p:cNvPr name="Freeform 38" id="38"/>
          <p:cNvSpPr/>
          <p:nvPr/>
        </p:nvSpPr>
        <p:spPr>
          <a:xfrm flipH="false" flipV="false" rot="0">
            <a:off x="6490900" y="227624"/>
            <a:ext cx="9855682" cy="6897422"/>
          </a:xfrm>
          <a:custGeom>
            <a:avLst/>
            <a:gdLst/>
            <a:ahLst/>
            <a:cxnLst/>
            <a:rect r="r" b="b" t="t" l="l"/>
            <a:pathLst>
              <a:path h="6897422" w="9855682">
                <a:moveTo>
                  <a:pt x="0" y="0"/>
                </a:moveTo>
                <a:lnTo>
                  <a:pt x="9855681" y="0"/>
                </a:lnTo>
                <a:lnTo>
                  <a:pt x="9855681" y="6897422"/>
                </a:lnTo>
                <a:lnTo>
                  <a:pt x="0" y="6897422"/>
                </a:lnTo>
                <a:lnTo>
                  <a:pt x="0" y="0"/>
                </a:lnTo>
                <a:close/>
              </a:path>
            </a:pathLst>
          </a:custGeom>
          <a:blipFill>
            <a:blip r:embed="rId5"/>
            <a:stretch>
              <a:fillRect l="-4371" t="-17501" r="-51699" b="-7941"/>
            </a:stretch>
          </a:blipFill>
        </p:spPr>
      </p:sp>
      <p:sp>
        <p:nvSpPr>
          <p:cNvPr name="TextBox 39" id="39"/>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40" id="40"/>
          <p:cNvSpPr txBox="true"/>
          <p:nvPr/>
        </p:nvSpPr>
        <p:spPr>
          <a:xfrm rot="0">
            <a:off x="-1222661" y="1028700"/>
            <a:ext cx="7687881"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6 — Correlation</a:t>
            </a:r>
          </a:p>
        </p:txBody>
      </p:sp>
      <p:sp>
        <p:nvSpPr>
          <p:cNvPr name="TextBox 41" id="41"/>
          <p:cNvSpPr txBox="true"/>
          <p:nvPr/>
        </p:nvSpPr>
        <p:spPr>
          <a:xfrm rot="0">
            <a:off x="673103" y="9619312"/>
            <a:ext cx="14044384" cy="457171"/>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W</a:t>
            </a:r>
            <a:r>
              <a:rPr lang="en-US" sz="2949">
                <a:solidFill>
                  <a:srgbClr val="236292"/>
                </a:solidFill>
                <a:latin typeface="Trebuchet MS"/>
                <a:ea typeface="Trebuchet MS"/>
                <a:cs typeface="Trebuchet MS"/>
                <a:sym typeface="Trebuchet MS"/>
              </a:rPr>
              <a:t>ater efficiency showed the strongest positive association with yield (r = 0.91).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330203" y="1748017"/>
            <a:ext cx="10800563" cy="4876386"/>
          </a:xfrm>
          <a:custGeom>
            <a:avLst/>
            <a:gdLst/>
            <a:ahLst/>
            <a:cxnLst/>
            <a:rect r="r" b="b" t="t" l="l"/>
            <a:pathLst>
              <a:path h="4876386" w="10800563">
                <a:moveTo>
                  <a:pt x="0" y="0"/>
                </a:moveTo>
                <a:lnTo>
                  <a:pt x="10800563" y="0"/>
                </a:lnTo>
                <a:lnTo>
                  <a:pt x="10800563" y="4876386"/>
                </a:lnTo>
                <a:lnTo>
                  <a:pt x="0" y="4876386"/>
                </a:lnTo>
                <a:lnTo>
                  <a:pt x="0" y="0"/>
                </a:lnTo>
                <a:close/>
              </a:path>
            </a:pathLst>
          </a:custGeom>
          <a:blipFill>
            <a:blip r:embed="rId4"/>
            <a:stretch>
              <a:fillRect l="0" t="-49852" r="-50457" b="-37597"/>
            </a:stretch>
          </a:blipFill>
        </p:spPr>
      </p:sp>
      <p:sp>
        <p:nvSpPr>
          <p:cNvPr name="TextBox 38" id="38"/>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795950" y="1028700"/>
            <a:ext cx="7687881"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7 — Rainfall vs Yield</a:t>
            </a:r>
          </a:p>
        </p:txBody>
      </p:sp>
      <p:sp>
        <p:nvSpPr>
          <p:cNvPr name="TextBox 40" id="40"/>
          <p:cNvSpPr txBox="true"/>
          <p:nvPr/>
        </p:nvSpPr>
        <p:spPr>
          <a:xfrm rot="0">
            <a:off x="360778" y="6750606"/>
            <a:ext cx="14044384" cy="457171"/>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R</a:t>
            </a:r>
            <a:r>
              <a:rPr lang="en-US" sz="2949">
                <a:solidFill>
                  <a:srgbClr val="236292"/>
                </a:solidFill>
                <a:latin typeface="Trebuchet MS"/>
                <a:ea typeface="Trebuchet MS"/>
                <a:cs typeface="Trebuchet MS"/>
                <a:sym typeface="Trebuchet MS"/>
              </a:rPr>
              <a:t>ainfall showed a very weak positive linear association with crop yield (r = 0.031).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5752572" y="1719442"/>
            <a:ext cx="9595735" cy="7135269"/>
          </a:xfrm>
          <a:custGeom>
            <a:avLst/>
            <a:gdLst/>
            <a:ahLst/>
            <a:cxnLst/>
            <a:rect r="r" b="b" t="t" l="l"/>
            <a:pathLst>
              <a:path h="7135269" w="9595735">
                <a:moveTo>
                  <a:pt x="0" y="0"/>
                </a:moveTo>
                <a:lnTo>
                  <a:pt x="9595735" y="0"/>
                </a:lnTo>
                <a:lnTo>
                  <a:pt x="9595735" y="7135269"/>
                </a:lnTo>
                <a:lnTo>
                  <a:pt x="0" y="7135269"/>
                </a:lnTo>
                <a:lnTo>
                  <a:pt x="0" y="0"/>
                </a:lnTo>
                <a:close/>
              </a:path>
            </a:pathLst>
          </a:custGeom>
          <a:blipFill>
            <a:blip r:embed="rId4"/>
            <a:stretch>
              <a:fillRect l="-18950" t="-44760" r="-113671" b="-31209"/>
            </a:stretch>
          </a:blipFill>
        </p:spPr>
      </p:sp>
      <p:sp>
        <p:nvSpPr>
          <p:cNvPr name="Freeform 38" id="38"/>
          <p:cNvSpPr/>
          <p:nvPr/>
        </p:nvSpPr>
        <p:spPr>
          <a:xfrm flipH="false" flipV="false" rot="0">
            <a:off x="393194" y="1719442"/>
            <a:ext cx="5309593" cy="7127169"/>
          </a:xfrm>
          <a:custGeom>
            <a:avLst/>
            <a:gdLst/>
            <a:ahLst/>
            <a:cxnLst/>
            <a:rect r="r" b="b" t="t" l="l"/>
            <a:pathLst>
              <a:path h="7127169" w="5309593">
                <a:moveTo>
                  <a:pt x="0" y="0"/>
                </a:moveTo>
                <a:lnTo>
                  <a:pt x="5309593" y="0"/>
                </a:lnTo>
                <a:lnTo>
                  <a:pt x="5309593" y="7127168"/>
                </a:lnTo>
                <a:lnTo>
                  <a:pt x="0" y="7127168"/>
                </a:lnTo>
                <a:lnTo>
                  <a:pt x="0" y="0"/>
                </a:lnTo>
                <a:close/>
              </a:path>
            </a:pathLst>
          </a:custGeom>
          <a:blipFill>
            <a:blip r:embed="rId5"/>
            <a:stretch>
              <a:fillRect l="-16452" t="-24356" r="-219605" b="-16469"/>
            </a:stretch>
          </a:blipFill>
        </p:spPr>
      </p:sp>
      <p:sp>
        <p:nvSpPr>
          <p:cNvPr name="TextBox 39" id="39"/>
          <p:cNvSpPr txBox="true"/>
          <p:nvPr/>
        </p:nvSpPr>
        <p:spPr>
          <a:xfrm rot="0">
            <a:off x="336552" y="218099"/>
            <a:ext cx="2974986" cy="810601"/>
          </a:xfrm>
          <a:prstGeom prst="rect">
            <a:avLst/>
          </a:prstGeom>
        </p:spPr>
        <p:txBody>
          <a:bodyPr anchor="t" rtlCol="false" tIns="0" lIns="0" bIns="0" rIns="0">
            <a:spAutoFit/>
          </a:bodyPr>
          <a:lstStyle/>
          <a:p>
            <a:pPr algn="l">
              <a:lnSpc>
                <a:spcPts val="5992"/>
              </a:lnSpc>
            </a:pPr>
            <a:r>
              <a:rPr lang="en-US" sz="4993" b="true">
                <a:solidFill>
                  <a:srgbClr val="000000"/>
                </a:solidFill>
                <a:latin typeface="Trebuchet MS Bold"/>
                <a:ea typeface="Trebuchet MS Bold"/>
                <a:cs typeface="Trebuchet MS Bold"/>
                <a:sym typeface="Trebuchet MS Bold"/>
              </a:rPr>
              <a:t>RESULTS </a:t>
            </a:r>
          </a:p>
        </p:txBody>
      </p:sp>
      <p:sp>
        <p:nvSpPr>
          <p:cNvPr name="TextBox 40" id="40"/>
          <p:cNvSpPr txBox="true"/>
          <p:nvPr/>
        </p:nvSpPr>
        <p:spPr>
          <a:xfrm rot="0">
            <a:off x="-304911" y="1128882"/>
            <a:ext cx="7687881" cy="485785"/>
          </a:xfrm>
          <a:prstGeom prst="rect">
            <a:avLst/>
          </a:prstGeom>
        </p:spPr>
        <p:txBody>
          <a:bodyPr anchor="t" rtlCol="false" tIns="0" lIns="0" bIns="0" rIns="0">
            <a:spAutoFit/>
          </a:bodyPr>
          <a:lstStyle/>
          <a:p>
            <a:pPr algn="ctr">
              <a:lnSpc>
                <a:spcPts val="3899"/>
              </a:lnSpc>
              <a:spcBef>
                <a:spcPct val="0"/>
              </a:spcBef>
            </a:pPr>
            <a:r>
              <a:rPr lang="en-US" b="true" sz="3249">
                <a:solidFill>
                  <a:srgbClr val="2E83C3"/>
                </a:solidFill>
                <a:latin typeface="Trebuchet MS Bold"/>
                <a:ea typeface="Trebuchet MS Bold"/>
                <a:cs typeface="Trebuchet MS Bold"/>
                <a:sym typeface="Trebuchet MS Bold"/>
              </a:rPr>
              <a:t>RESULT 8 — Multivariate Analysis</a:t>
            </a:r>
          </a:p>
        </p:txBody>
      </p:sp>
      <p:sp>
        <p:nvSpPr>
          <p:cNvPr name="TextBox 41" id="41"/>
          <p:cNvSpPr txBox="true"/>
          <p:nvPr/>
        </p:nvSpPr>
        <p:spPr>
          <a:xfrm rot="0">
            <a:off x="673103" y="9107053"/>
            <a:ext cx="14044384" cy="1352464"/>
          </a:xfrm>
          <a:prstGeom prst="rect">
            <a:avLst/>
          </a:prstGeom>
        </p:spPr>
        <p:txBody>
          <a:bodyPr anchor="t" rtlCol="false" tIns="0" lIns="0" bIns="0" rIns="0">
            <a:spAutoFit/>
          </a:bodyPr>
          <a:lstStyle/>
          <a:p>
            <a:pPr algn="l">
              <a:lnSpc>
                <a:spcPts val="3539"/>
              </a:lnSpc>
              <a:spcBef>
                <a:spcPct val="0"/>
              </a:spcBef>
            </a:pPr>
            <a:r>
              <a:rPr lang="en-US" sz="2949">
                <a:solidFill>
                  <a:srgbClr val="236292"/>
                </a:solidFill>
                <a:latin typeface="Trebuchet MS"/>
                <a:ea typeface="Trebuchet MS"/>
                <a:cs typeface="Trebuchet MS"/>
                <a:sym typeface="Trebuchet MS"/>
              </a:rPr>
              <a:t>Crop y</a:t>
            </a:r>
            <a:r>
              <a:rPr lang="en-US" sz="2949">
                <a:solidFill>
                  <a:srgbClr val="236292"/>
                </a:solidFill>
                <a:latin typeface="Trebuchet MS"/>
                <a:ea typeface="Trebuchet MS"/>
                <a:cs typeface="Trebuchet MS"/>
                <a:sym typeface="Trebuchet MS"/>
              </a:rPr>
              <a:t>ield varies across both crop type and season, allowing crop-season combinations to be compared simultaneously.</a:t>
            </a:r>
          </a:p>
          <a:p>
            <a:pPr algn="l">
              <a:lnSpc>
                <a:spcPts val="353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Future scope</a:t>
            </a:r>
          </a:p>
        </p:txBody>
      </p:sp>
      <p:sp>
        <p:nvSpPr>
          <p:cNvPr name="TextBox 38" id="38"/>
          <p:cNvSpPr txBox="true"/>
          <p:nvPr/>
        </p:nvSpPr>
        <p:spPr>
          <a:xfrm rot="0">
            <a:off x="625485" y="1747133"/>
            <a:ext cx="13376265" cy="7528386"/>
          </a:xfrm>
          <a:prstGeom prst="rect">
            <a:avLst/>
          </a:prstGeom>
        </p:spPr>
        <p:txBody>
          <a:bodyPr anchor="t" rtlCol="false" tIns="0" lIns="0" bIns="0" rIns="0">
            <a:spAutoFit/>
          </a:bodyPr>
          <a:lstStyle/>
          <a:p>
            <a:pPr algn="l" marL="1083275" indent="-541637" lvl="1">
              <a:lnSpc>
                <a:spcPts val="6020"/>
              </a:lnSpc>
              <a:spcBef>
                <a:spcPct val="0"/>
              </a:spcBef>
              <a:buFont typeface="Arial"/>
              <a:buChar char="•"/>
            </a:pPr>
            <a:r>
              <a:rPr lang="en-US" sz="5017">
                <a:solidFill>
                  <a:srgbClr val="000000"/>
                </a:solidFill>
                <a:latin typeface="Trebuchet MS"/>
                <a:ea typeface="Trebuchet MS"/>
                <a:cs typeface="Trebuchet MS"/>
                <a:sym typeface="Trebuchet MS"/>
              </a:rPr>
              <a:t>Use larger and multi-year agricultural datasets.</a:t>
            </a:r>
          </a:p>
          <a:p>
            <a:pPr algn="l" marL="1083275" indent="-541637" lvl="1">
              <a:lnSpc>
                <a:spcPts val="6020"/>
              </a:lnSpc>
              <a:spcBef>
                <a:spcPct val="0"/>
              </a:spcBef>
              <a:buFont typeface="Arial"/>
              <a:buChar char="•"/>
            </a:pPr>
            <a:r>
              <a:rPr lang="en-US" sz="5017">
                <a:solidFill>
                  <a:srgbClr val="000000"/>
                </a:solidFill>
                <a:latin typeface="Trebuchet MS"/>
                <a:ea typeface="Trebuchet MS"/>
                <a:cs typeface="Trebuchet MS"/>
                <a:sym typeface="Trebuchet MS"/>
              </a:rPr>
              <a:t>Apply predictive machine learning models for yield forecasting.</a:t>
            </a:r>
          </a:p>
          <a:p>
            <a:pPr algn="l" marL="1083275" indent="-541637" lvl="1">
              <a:lnSpc>
                <a:spcPts val="6020"/>
              </a:lnSpc>
              <a:spcBef>
                <a:spcPct val="0"/>
              </a:spcBef>
              <a:buFont typeface="Arial"/>
              <a:buChar char="•"/>
            </a:pPr>
            <a:r>
              <a:rPr lang="en-US" sz="5017">
                <a:solidFill>
                  <a:srgbClr val="000000"/>
                </a:solidFill>
                <a:latin typeface="Trebuchet MS"/>
                <a:ea typeface="Trebuchet MS"/>
                <a:cs typeface="Trebuchet MS"/>
                <a:sym typeface="Trebuchet MS"/>
              </a:rPr>
              <a:t>Develop real-time monitoring dashboards.</a:t>
            </a:r>
          </a:p>
          <a:p>
            <a:pPr algn="l" marL="1083275" indent="-541637" lvl="1">
              <a:lnSpc>
                <a:spcPts val="6020"/>
              </a:lnSpc>
              <a:spcBef>
                <a:spcPct val="0"/>
              </a:spcBef>
              <a:buFont typeface="Arial"/>
              <a:buChar char="•"/>
            </a:pPr>
            <a:r>
              <a:rPr lang="en-US" sz="5017">
                <a:solidFill>
                  <a:srgbClr val="000000"/>
                </a:solidFill>
                <a:latin typeface="Trebuchet MS"/>
                <a:ea typeface="Trebuchet MS"/>
                <a:cs typeface="Trebuchet MS"/>
                <a:sym typeface="Trebuchet MS"/>
              </a:rPr>
              <a:t>Include additional factors such as soil nutrients, weather variations, and market conditions.</a:t>
            </a:r>
          </a:p>
          <a:p>
            <a:pPr algn="l" marL="1083275" indent="-541637" lvl="1">
              <a:lnSpc>
                <a:spcPts val="6020"/>
              </a:lnSpc>
              <a:spcBef>
                <a:spcPct val="0"/>
              </a:spcBef>
              <a:buFont typeface="Arial"/>
              <a:buChar char="•"/>
            </a:pPr>
            <a:r>
              <a:rPr lang="en-US" sz="5017">
                <a:solidFill>
                  <a:srgbClr val="000000"/>
                </a:solidFill>
                <a:latin typeface="Trebuchet MS"/>
                <a:ea typeface="Trebuchet MS"/>
                <a:cs typeface="Trebuchet MS"/>
                <a:sym typeface="Trebuchet MS"/>
              </a:rPr>
              <a:t>Build decision-support systems for farmers and agricultural planners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GitHub Link</a:t>
            </a:r>
          </a:p>
        </p:txBody>
      </p:sp>
      <p:sp>
        <p:nvSpPr>
          <p:cNvPr name="TextBox 38" id="38"/>
          <p:cNvSpPr txBox="true"/>
          <p:nvPr/>
        </p:nvSpPr>
        <p:spPr>
          <a:xfrm rot="0">
            <a:off x="1039489" y="3977901"/>
            <a:ext cx="11120704" cy="1616662"/>
          </a:xfrm>
          <a:prstGeom prst="rect">
            <a:avLst/>
          </a:prstGeom>
        </p:spPr>
        <p:txBody>
          <a:bodyPr anchor="t" rtlCol="false" tIns="0" lIns="0" bIns="0" rIns="0">
            <a:spAutoFit/>
          </a:bodyPr>
          <a:lstStyle/>
          <a:p>
            <a:pPr algn="l">
              <a:lnSpc>
                <a:spcPts val="6439"/>
              </a:lnSpc>
            </a:pPr>
            <a:r>
              <a:rPr lang="en-US" sz="4599" u="sng">
                <a:solidFill>
                  <a:srgbClr val="236292"/>
                </a:solidFill>
                <a:latin typeface="Arimo"/>
                <a:ea typeface="Arimo"/>
                <a:cs typeface="Arimo"/>
                <a:sym typeface="Arimo"/>
                <a:hlinkClick r:id="rId4" tooltip="https://github.com/kav566/Seasonal-Agriculture-Performance-Analysis.git"/>
              </a:rPr>
              <a:t>https://github.com/kav566/Seasonal-Agriculture-Performance-Analysis.git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2978173" y="4638368"/>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319281" y="8090222"/>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040463" y="1690110"/>
            <a:ext cx="12179303" cy="8425935"/>
          </a:xfrm>
          <a:custGeom>
            <a:avLst/>
            <a:gdLst/>
            <a:ahLst/>
            <a:cxnLst/>
            <a:rect r="r" b="b" t="t" l="l"/>
            <a:pathLst>
              <a:path h="8425935" w="12179303">
                <a:moveTo>
                  <a:pt x="0" y="0"/>
                </a:moveTo>
                <a:lnTo>
                  <a:pt x="12179304" y="0"/>
                </a:lnTo>
                <a:lnTo>
                  <a:pt x="12179304" y="8425935"/>
                </a:lnTo>
                <a:lnTo>
                  <a:pt x="0" y="8425935"/>
                </a:lnTo>
                <a:lnTo>
                  <a:pt x="0" y="0"/>
                </a:lnTo>
                <a:close/>
              </a:path>
            </a:pathLst>
          </a:custGeom>
          <a:blipFill>
            <a:blip r:embed="rId4"/>
            <a:stretch>
              <a:fillRect l="-39787" t="-28974" r="-39844" b="-17078"/>
            </a:stretch>
          </a:blipFill>
        </p:spPr>
      </p:sp>
      <p:sp>
        <p:nvSpPr>
          <p:cNvPr name="TextBox 38" id="38"/>
          <p:cNvSpPr txBox="true"/>
          <p:nvPr/>
        </p:nvSpPr>
        <p:spPr>
          <a:xfrm rot="0">
            <a:off x="1028700" y="238112"/>
            <a:ext cx="12344200" cy="1245070"/>
          </a:xfrm>
          <a:prstGeom prst="rect">
            <a:avLst/>
          </a:prstGeom>
        </p:spPr>
        <p:txBody>
          <a:bodyPr anchor="t" rtlCol="false" tIns="0" lIns="0" bIns="0" rIns="0">
            <a:spAutoFit/>
          </a:bodyPr>
          <a:lstStyle/>
          <a:p>
            <a:pPr algn="l">
              <a:lnSpc>
                <a:spcPts val="5184"/>
              </a:lnSpc>
            </a:pPr>
            <a:r>
              <a:rPr lang="en-US" sz="4320" b="true">
                <a:solidFill>
                  <a:srgbClr val="000000"/>
                </a:solidFill>
                <a:latin typeface="Trebuchet MS Bold"/>
                <a:ea typeface="Trebuchet MS Bold"/>
                <a:cs typeface="Trebuchet MS Bold"/>
                <a:sym typeface="Trebuchet MS Bold"/>
              </a:rPr>
              <a:t>VOIS Course completion certificate - </a:t>
            </a:r>
          </a:p>
          <a:p>
            <a:pPr algn="l">
              <a:lnSpc>
                <a:spcPts val="5184"/>
              </a:lnSpc>
            </a:pPr>
            <a:r>
              <a:rPr lang="en-US" sz="4320" b="true">
                <a:solidFill>
                  <a:srgbClr val="000000"/>
                </a:solidFill>
                <a:latin typeface="Trebuchet MS Bold"/>
                <a:ea typeface="Trebuchet MS Bold"/>
                <a:cs typeface="Trebuchet MS Bold"/>
                <a:sym typeface="Trebuchet MS Bold"/>
              </a:rPr>
              <a:t>Course name- Data Visualization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7" y="5201336"/>
            <a:ext cx="687400" cy="592588"/>
            <a:chOff x="0" y="0"/>
            <a:chExt cx="916534"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7" y="3592087"/>
            <a:ext cx="537591" cy="463439"/>
            <a:chOff x="0" y="0"/>
            <a:chExt cx="716788" cy="617918"/>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299"/>
            <a:ext cx="346034" cy="298304"/>
            <a:chOff x="0" y="0"/>
            <a:chExt cx="461378" cy="397739"/>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37807" y="4931504"/>
            <a:ext cx="17010002" cy="1050169"/>
            <a:chOff x="0" y="0"/>
            <a:chExt cx="22680003" cy="1400226"/>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blipFill>
              <a:blip r:embed="rId2">
                <a:alphaModFix amt="0"/>
              </a:blip>
              <a:stretch>
                <a:fillRect l="0" t="-265606" r="0" b="-265606"/>
              </a:stretch>
            </a:blipFill>
          </p:spPr>
        </p:sp>
        <p:sp>
          <p:nvSpPr>
            <p:cNvPr name="TextBox 37" id="37"/>
            <p:cNvSpPr txBox="true"/>
            <p:nvPr/>
          </p:nvSpPr>
          <p:spPr>
            <a:xfrm>
              <a:off x="0" y="-9525"/>
              <a:ext cx="22680003" cy="1409751"/>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4"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9"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DAHUuq2PQu8</dc:identifier>
  <dcterms:modified xsi:type="dcterms:W3CDTF">2011-08-01T06:04:30Z</dcterms:modified>
  <cp:revision>1</cp:revision>
  <dc:title>VOIS_Major_Project_PPT_Submission_Template.pptx</dc:title>
</cp:coreProperties>
</file>